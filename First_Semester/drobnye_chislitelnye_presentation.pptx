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  <a:latin typeface="Georgia" panose="02040502050405020303"/>
              </a:defRPr>
            </a:pPr>
            <a:r>
              <a:t>Дробные имена числительные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lang="ru-RU" sz="1800" b="1">
                <a:solidFill>
                  <a:srgbClr val="333333"/>
                </a:solidFill>
                <a:latin typeface="Calibri" panose="020F0502020204030204"/>
              </a:rPr>
              <a:t>О</a:t>
            </a:r>
            <a:r>
              <a:rPr sz="1800" b="1">
                <a:solidFill>
                  <a:srgbClr val="333333"/>
                </a:solidFill>
                <a:latin typeface="Calibri" panose="020F0502020204030204"/>
              </a:rPr>
              <a:t>бъяснение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, </a:t>
            </a:r>
            <a:r>
              <a:rPr sz="1800" i="1">
                <a:solidFill>
                  <a:srgbClr val="333333"/>
                </a:solidFill>
                <a:latin typeface="Calibri" panose="020F0502020204030204"/>
              </a:rPr>
              <a:t>примеры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, правила правописания.</a:t>
            </a:r>
            <a:endParaRPr sz="1800">
              <a:solidFill>
                <a:srgbClr val="333333"/>
              </a:solidFill>
              <a:latin typeface="Calibri" panose="020F0502020204030204"/>
            </a:endParaRPr>
          </a:p>
          <a:p>
            <a:pPr marL="0" indent="0" algn="r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Презентацию делали: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 marL="0" indent="0" algn="r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>
                <a:solidFill>
                  <a:srgbClr val="333333"/>
                </a:solidFill>
                <a:latin typeface="Calibri" panose="020F0502020204030204"/>
              </a:rPr>
              <a:t>Шарипов Акбар</a:t>
            </a:r>
            <a:endParaRPr sz="1800" b="1">
              <a:solidFill>
                <a:srgbClr val="333333"/>
              </a:solidFill>
              <a:latin typeface="Calibri" panose="020F0502020204030204"/>
            </a:endParaRPr>
          </a:p>
          <a:p>
            <a:pPr marL="0" indent="0" algn="r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>
                <a:solidFill>
                  <a:srgbClr val="333333"/>
                </a:solidFill>
                <a:latin typeface="Calibri" panose="020F0502020204030204"/>
              </a:rPr>
              <a:t>Уметбаев Барсбек (Барситос)</a:t>
            </a:r>
            <a:endParaRPr sz="1800" b="1">
              <a:solidFill>
                <a:srgbClr val="333333"/>
              </a:solidFill>
              <a:latin typeface="Calibri" panose="020F0502020204030204"/>
            </a:endParaRPr>
          </a:p>
        </p:txBody>
      </p:sp>
      <p:pic>
        <p:nvPicPr>
          <p:cNvPr id="4" name="Изображение 3" descr="IMG-20250413-WA00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1630" y="4531995"/>
            <a:ext cx="2879090" cy="2326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  <a:latin typeface="Georgia" panose="02040502050405020303"/>
              </a:defRPr>
            </a:pPr>
            <a:r>
              <a:t>Что такое дробные числительные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>
                <a:solidFill>
                  <a:srgbClr val="333333"/>
                </a:solidFill>
                <a:latin typeface="Calibri" panose="020F0502020204030204"/>
              </a:rPr>
              <a:t>Дробные имена числительные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 обозначают </a:t>
            </a:r>
            <a:r>
              <a:rPr sz="1800" i="1">
                <a:solidFill>
                  <a:srgbClr val="333333"/>
                </a:solidFill>
                <a:latin typeface="Calibri" panose="020F0502020204030204"/>
              </a:rPr>
              <a:t>часть целого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. </a:t>
            </a:r>
            <a:endParaRPr sz="1800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>
                <a:solidFill>
                  <a:srgbClr val="333333"/>
                </a:solidFill>
                <a:latin typeface="Calibri" panose="020F0502020204030204"/>
              </a:rPr>
              <a:t>Используются для выражения дробей, например: </a:t>
            </a:r>
            <a:r>
              <a:rPr sz="1800" u="sng">
                <a:solidFill>
                  <a:srgbClr val="333333"/>
                </a:solidFill>
                <a:latin typeface="Calibri" panose="020F0502020204030204"/>
              </a:rPr>
              <a:t>1/2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, </a:t>
            </a:r>
            <a:r>
              <a:rPr sz="1800" u="sng">
                <a:solidFill>
                  <a:srgbClr val="333333"/>
                </a:solidFill>
                <a:latin typeface="Calibri" panose="020F0502020204030204"/>
              </a:rPr>
              <a:t>3/5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, </a:t>
            </a:r>
            <a:r>
              <a:rPr sz="1800" u="sng">
                <a:solidFill>
                  <a:srgbClr val="333333"/>
                </a:solidFill>
                <a:latin typeface="Calibri" panose="020F0502020204030204"/>
              </a:rPr>
              <a:t>7/10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.</a:t>
            </a:r>
            <a:endParaRPr sz="1800">
              <a:solidFill>
                <a:srgbClr val="333333"/>
              </a:solidFill>
              <a:latin typeface="Calibri" panose="020F0502020204030204"/>
            </a:endParaRPr>
          </a:p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Примеры: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1/2 —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одна вторая</a:t>
            </a:r>
            <a:endParaRPr sz="1600" b="1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3/4 —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три четвёртых</a:t>
            </a:r>
            <a:endParaRPr sz="1600" b="1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7/10 —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семь десятых</a:t>
            </a:r>
            <a:endParaRPr sz="1600" b="1">
              <a:solidFill>
                <a:srgbClr val="0066CC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  <a:latin typeface="Georgia" panose="02040502050405020303"/>
              </a:defRPr>
            </a:pPr>
            <a:r>
              <a:t>Структура дробных числительных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>
                <a:solidFill>
                  <a:srgbClr val="333333"/>
                </a:solidFill>
                <a:latin typeface="Calibri" panose="020F0502020204030204"/>
              </a:rPr>
              <a:t>Дробное числительное состоит из </a:t>
            </a: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двух частей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:</a:t>
            </a:r>
            <a:endParaRPr sz="1800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>
                <a:solidFill>
                  <a:srgbClr val="333333"/>
                </a:solidFill>
                <a:latin typeface="Calibri" panose="020F0502020204030204"/>
              </a:rPr>
              <a:t>1) </a:t>
            </a:r>
            <a:r>
              <a:rPr sz="1800" b="1">
                <a:solidFill>
                  <a:srgbClr val="333333"/>
                </a:solidFill>
                <a:latin typeface="Calibri" panose="020F0502020204030204"/>
              </a:rPr>
              <a:t>Числитель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 — </a:t>
            </a:r>
            <a:r>
              <a:rPr sz="1800" i="1">
                <a:solidFill>
                  <a:srgbClr val="333333"/>
                </a:solidFill>
                <a:latin typeface="Calibri" panose="020F0502020204030204"/>
              </a:rPr>
              <a:t>количественное числительное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.</a:t>
            </a:r>
            <a:endParaRPr sz="1800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>
                <a:solidFill>
                  <a:srgbClr val="333333"/>
                </a:solidFill>
                <a:latin typeface="Calibri" panose="020F0502020204030204"/>
              </a:rPr>
              <a:t>2) </a:t>
            </a:r>
            <a:r>
              <a:rPr sz="1800" b="1">
                <a:solidFill>
                  <a:srgbClr val="333333"/>
                </a:solidFill>
                <a:latin typeface="Calibri" panose="020F0502020204030204"/>
              </a:rPr>
              <a:t>Знаменатель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 — </a:t>
            </a:r>
            <a:r>
              <a:rPr sz="1800" i="1">
                <a:solidFill>
                  <a:srgbClr val="333333"/>
                </a:solidFill>
                <a:latin typeface="Calibri" panose="020F0502020204030204"/>
              </a:rPr>
              <a:t>порядковое числительное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 в форме родительного падежа множественного числа.</a:t>
            </a:r>
            <a:endParaRPr sz="1800">
              <a:solidFill>
                <a:srgbClr val="333333"/>
              </a:solidFill>
              <a:latin typeface="Calibri" panose="020F0502020204030204"/>
            </a:endParaRPr>
          </a:p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Примеры: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три пятых</a:t>
            </a:r>
            <a:endParaRPr sz="1600" b="1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восемь девятых</a:t>
            </a:r>
            <a:endParaRPr sz="1600" b="1">
              <a:solidFill>
                <a:srgbClr val="0066CC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  <a:latin typeface="Georgia" panose="02040502050405020303"/>
              </a:defRPr>
            </a:pPr>
            <a:r>
              <a:t>Построение дробей: примеры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Примеры преобразования: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u="sng">
                <a:solidFill>
                  <a:srgbClr val="0066CC"/>
                </a:solidFill>
                <a:latin typeface="Calibri" panose="020F0502020204030204"/>
              </a:rPr>
              <a:t>3/8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→ «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три восьмых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»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u="sng">
                <a:solidFill>
                  <a:srgbClr val="0066CC"/>
                </a:solidFill>
                <a:latin typeface="Calibri" panose="020F0502020204030204"/>
              </a:rPr>
              <a:t>1/4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→ «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одна четвёртая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»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u="sng">
                <a:solidFill>
                  <a:srgbClr val="0066CC"/>
                </a:solidFill>
                <a:latin typeface="Calibri" panose="020F0502020204030204"/>
              </a:rPr>
              <a:t>15/32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→ «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пятнадцать тридцать вторых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»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u="sng">
                <a:solidFill>
                  <a:srgbClr val="0066CC"/>
                </a:solidFill>
                <a:latin typeface="Calibri" panose="020F0502020204030204"/>
              </a:rPr>
              <a:t>2/7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→ «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две седьмых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»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  <a:latin typeface="Georgia" panose="02040502050405020303"/>
              </a:defRPr>
            </a:pPr>
            <a:r>
              <a:t>Склонение дробных числительных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Склоняются обе части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 дробного числительного.</a:t>
            </a:r>
            <a:endParaRPr sz="1800">
              <a:solidFill>
                <a:srgbClr val="333333"/>
              </a:solidFill>
              <a:latin typeface="Calibri" panose="020F0502020204030204"/>
            </a:endParaRPr>
          </a:p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Примеры: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Нет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трёх пятых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раствора.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Подойти к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трём пятым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пути.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Довести до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одной четвёртой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уровня.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  <a:latin typeface="Georgia" panose="02040502050405020303"/>
              </a:defRPr>
            </a:pPr>
            <a:r>
              <a:t>Таблица склонения: пример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Падеж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Дробь 3/5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Дробь 1/4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Именительный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три пятых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одна четвёртая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Родительный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трёх пятых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одной четвёртой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Дательный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трём пятым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одной четвёртой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Винительный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три пятых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одну четвёртую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Творительный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тремя пятыми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одной четвёртой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Предложный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о трёх пятых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об одной четвёртой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  <a:latin typeface="Georgia" panose="02040502050405020303"/>
              </a:defRPr>
            </a:pPr>
            <a:r>
              <a:t>Особенности числителя 'один'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>
                <a:solidFill>
                  <a:srgbClr val="333333"/>
                </a:solidFill>
                <a:latin typeface="Calibri" panose="020F0502020204030204"/>
              </a:rPr>
              <a:t>Если числитель равен </a:t>
            </a:r>
            <a:r>
              <a:rPr sz="1800" b="1">
                <a:solidFill>
                  <a:srgbClr val="333333"/>
                </a:solidFill>
                <a:latin typeface="Calibri" panose="020F0502020204030204"/>
              </a:rPr>
              <a:t>1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, знаменатель ставится в форме </a:t>
            </a:r>
            <a:r>
              <a:rPr sz="1800" i="1">
                <a:solidFill>
                  <a:srgbClr val="333333"/>
                </a:solidFill>
                <a:latin typeface="Calibri" panose="020F0502020204030204"/>
              </a:rPr>
              <a:t>женского рода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:</a:t>
            </a:r>
            <a:endParaRPr sz="1800">
              <a:solidFill>
                <a:srgbClr val="333333"/>
              </a:solidFill>
              <a:latin typeface="Calibri" panose="020F0502020204030204"/>
            </a:endParaRPr>
          </a:p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Примеры: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одна третья</a:t>
            </a:r>
            <a:endParaRPr sz="1600" b="1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одна шестая</a:t>
            </a:r>
            <a:endParaRPr sz="1600" b="1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одна десятая</a:t>
            </a:r>
            <a:endParaRPr sz="1600" b="1">
              <a:solidFill>
                <a:srgbClr val="0066CC"/>
              </a:solidFill>
              <a:latin typeface="Calibri" panose="020F0502020204030204"/>
            </a:endParaRPr>
          </a:p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Сравнение: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u="sng">
                <a:solidFill>
                  <a:srgbClr val="333333"/>
                </a:solidFill>
                <a:latin typeface="Calibri" panose="020F0502020204030204"/>
              </a:rPr>
              <a:t>1/3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 → </a:t>
            </a:r>
            <a:r>
              <a:rPr sz="1800" b="1">
                <a:solidFill>
                  <a:srgbClr val="333333"/>
                </a:solidFill>
                <a:latin typeface="Calibri" panose="020F0502020204030204"/>
              </a:rPr>
              <a:t>одна третья</a:t>
            </a:r>
            <a:endParaRPr sz="1800" b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u="sng">
                <a:solidFill>
                  <a:srgbClr val="333333"/>
                </a:solidFill>
                <a:latin typeface="Calibri" panose="020F0502020204030204"/>
              </a:rPr>
              <a:t>1/3 литра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 → </a:t>
            </a:r>
            <a:r>
              <a:rPr sz="1800" b="1">
                <a:solidFill>
                  <a:srgbClr val="333333"/>
                </a:solidFill>
                <a:latin typeface="Calibri" panose="020F0502020204030204"/>
              </a:rPr>
              <a:t>одна третья литра</a:t>
            </a:r>
            <a:endParaRPr sz="1800" b="1">
              <a:solidFill>
                <a:srgbClr val="333333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  <a:latin typeface="Georgia" panose="02040502050405020303"/>
              </a:defRPr>
            </a:pPr>
            <a:r>
              <a:t>Отличие от существительных дробного значения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Нельзя путать: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четвёрть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(</a:t>
            </a:r>
            <a:r>
              <a:rPr sz="1600" i="1">
                <a:solidFill>
                  <a:srgbClr val="0066CC"/>
                </a:solidFill>
                <a:latin typeface="Calibri" panose="020F0502020204030204"/>
              </a:rPr>
              <a:t>существительное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)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одна четвёртая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(</a:t>
            </a:r>
            <a:r>
              <a:rPr sz="1600" i="1">
                <a:solidFill>
                  <a:srgbClr val="0066CC"/>
                </a:solidFill>
                <a:latin typeface="Calibri" panose="020F0502020204030204"/>
              </a:rPr>
              <a:t>дробное числительное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)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Примеры: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выпить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четверть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молока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выпить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одну четвёртую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литра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  <a:latin typeface="Georgia" panose="02040502050405020303"/>
              </a:defRPr>
            </a:pPr>
            <a:r>
              <a:t>Составные дробные числительные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>
                <a:solidFill>
                  <a:srgbClr val="333333"/>
                </a:solidFill>
                <a:latin typeface="Calibri" panose="020F0502020204030204"/>
              </a:rPr>
              <a:t>Если знаменатель состоит из </a:t>
            </a: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нескольких слов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, он </a:t>
            </a:r>
            <a:r>
              <a:rPr sz="1800" b="1">
                <a:solidFill>
                  <a:srgbClr val="333333"/>
                </a:solidFill>
                <a:latin typeface="Calibri" panose="020F0502020204030204"/>
              </a:rPr>
              <a:t>склоняется полностью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.</a:t>
            </a:r>
            <a:endParaRPr sz="1800">
              <a:solidFill>
                <a:srgbClr val="333333"/>
              </a:solidFill>
              <a:latin typeface="Calibri" panose="020F0502020204030204"/>
            </a:endParaRPr>
          </a:p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Примеры: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u="sng">
                <a:solidFill>
                  <a:srgbClr val="0066CC"/>
                </a:solidFill>
                <a:latin typeface="Calibri" panose="020F0502020204030204"/>
              </a:rPr>
              <a:t>31/125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→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тридцать одна сто двадцать пятая</a:t>
            </a:r>
            <a:endParaRPr sz="1600" b="1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u="sng">
                <a:solidFill>
                  <a:srgbClr val="0066CC"/>
                </a:solidFill>
                <a:latin typeface="Calibri" panose="020F0502020204030204"/>
              </a:rPr>
              <a:t>7/256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→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семь двести пятьдесят шестых</a:t>
            </a:r>
            <a:endParaRPr sz="1600" b="1">
              <a:solidFill>
                <a:srgbClr val="0066CC"/>
              </a:solidFill>
              <a:latin typeface="Calibri" panose="020F0502020204030204"/>
            </a:endParaRPr>
          </a:p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Использование: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семью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двести пятьдесят шестыми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долями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  <a:latin typeface="Georgia" panose="02040502050405020303"/>
              </a:defRPr>
            </a:pPr>
            <a:r>
              <a:t>Полуторные числительные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i="1">
                <a:solidFill>
                  <a:srgbClr val="333333"/>
                </a:solidFill>
                <a:latin typeface="Calibri" panose="020F0502020204030204"/>
              </a:rPr>
              <a:t>Не являются дробными</a:t>
            </a:r>
            <a:r>
              <a:rPr sz="1800">
                <a:solidFill>
                  <a:srgbClr val="333333"/>
                </a:solidFill>
                <a:latin typeface="Calibri" panose="020F0502020204030204"/>
              </a:rPr>
              <a:t>, но используются рядом с ними:</a:t>
            </a:r>
            <a:endParaRPr sz="1800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полтора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</a:t>
            </a:r>
            <a:r>
              <a:rPr sz="1600" i="1">
                <a:solidFill>
                  <a:srgbClr val="0066CC"/>
                </a:solidFill>
                <a:latin typeface="Calibri" panose="020F0502020204030204"/>
              </a:rPr>
              <a:t>(м.р.)</a:t>
            </a:r>
            <a:endParaRPr sz="1600" i="1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полторы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</a:t>
            </a:r>
            <a:r>
              <a:rPr sz="1600" i="1">
                <a:solidFill>
                  <a:srgbClr val="0066CC"/>
                </a:solidFill>
                <a:latin typeface="Calibri" panose="020F0502020204030204"/>
              </a:rPr>
              <a:t>(ж.р.)</a:t>
            </a:r>
            <a:endParaRPr sz="1600" i="1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полтораста</a:t>
            </a:r>
            <a:endParaRPr sz="1600" b="1">
              <a:solidFill>
                <a:srgbClr val="0066CC"/>
              </a:solidFill>
              <a:latin typeface="Calibri" panose="020F0502020204030204"/>
            </a:endParaRPr>
          </a:p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Примеры: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полтора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литра воды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полторы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минуты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  <a:latin typeface="Georgia" panose="02040502050405020303"/>
              </a:defRPr>
            </a:pPr>
            <a:r>
              <a:t>Правописание дробных числительных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Правила написания: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Пишутся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раздельно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: </a:t>
            </a:r>
            <a:r>
              <a:rPr sz="1600" u="sng">
                <a:solidFill>
                  <a:srgbClr val="0066CC"/>
                </a:solidFill>
                <a:latin typeface="Calibri" panose="020F0502020204030204"/>
              </a:rPr>
              <a:t>три четвертых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, </a:t>
            </a:r>
            <a:r>
              <a:rPr sz="1600" u="sng">
                <a:solidFill>
                  <a:srgbClr val="0066CC"/>
                </a:solidFill>
                <a:latin typeface="Calibri" panose="020F0502020204030204"/>
              </a:rPr>
              <a:t>пять восьмых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.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В роли определения — </a:t>
            </a:r>
            <a:r>
              <a:rPr sz="1600" i="1">
                <a:solidFill>
                  <a:srgbClr val="0066CC"/>
                </a:solidFill>
                <a:latin typeface="Calibri" panose="020F0502020204030204"/>
              </a:rPr>
              <a:t>тоже раздельно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: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Примеры: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три четвертых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пути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две третьих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площади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  <a:latin typeface="Georgia" panose="02040502050405020303"/>
              </a:defRPr>
            </a:pPr>
            <a:r>
              <a:t>Типичные ошибки и их исправление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Частые ошибки: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>
                <a:solidFill>
                  <a:srgbClr val="333333"/>
                </a:solidFill>
                <a:latin typeface="Calibri" panose="020F0502020204030204"/>
              </a:rPr>
              <a:t>❌ два третья → ✔ </a:t>
            </a:r>
            <a:r>
              <a:rPr sz="1800" b="1">
                <a:solidFill>
                  <a:srgbClr val="333333"/>
                </a:solidFill>
                <a:latin typeface="Calibri" panose="020F0502020204030204"/>
              </a:rPr>
              <a:t>две третьих</a:t>
            </a:r>
            <a:endParaRPr sz="1800" b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>
                <a:solidFill>
                  <a:srgbClr val="333333"/>
                </a:solidFill>
                <a:latin typeface="Calibri" panose="020F0502020204030204"/>
              </a:rPr>
              <a:t>❌ три четвертый → ✔ </a:t>
            </a:r>
            <a:r>
              <a:rPr sz="1800" b="1">
                <a:solidFill>
                  <a:srgbClr val="333333"/>
                </a:solidFill>
                <a:latin typeface="Calibri" panose="020F0502020204030204"/>
              </a:rPr>
              <a:t>три четвертых</a:t>
            </a:r>
            <a:endParaRPr sz="1800" b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>
                <a:solidFill>
                  <a:srgbClr val="333333"/>
                </a:solidFill>
                <a:latin typeface="Calibri" panose="020F0502020204030204"/>
              </a:rPr>
              <a:t>❌ одна треть → ✔ </a:t>
            </a:r>
            <a:r>
              <a:rPr sz="1800" b="1">
                <a:solidFill>
                  <a:srgbClr val="333333"/>
                </a:solidFill>
                <a:latin typeface="Calibri" panose="020F0502020204030204"/>
              </a:rPr>
              <a:t>одна третья</a:t>
            </a:r>
            <a:endParaRPr sz="1800" b="1">
              <a:solidFill>
                <a:srgbClr val="333333"/>
              </a:solidFill>
              <a:latin typeface="Calibri" panose="020F0502020204030204"/>
            </a:endParaRPr>
          </a:p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Примеры правильного употребления: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две пятых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объёма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три шестых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части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3366"/>
                </a:solidFill>
                <a:latin typeface="Georgia" panose="02040502050405020303"/>
              </a:defRPr>
            </a:pPr>
            <a:r>
              <a:t>Итоги и закрепление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Главное: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Числитель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— </a:t>
            </a:r>
            <a:r>
              <a:rPr sz="1600" i="1">
                <a:solidFill>
                  <a:srgbClr val="0066CC"/>
                </a:solidFill>
                <a:latin typeface="Calibri" panose="020F0502020204030204"/>
              </a:rPr>
              <a:t>количественное числительное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.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Знаменатель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— </a:t>
            </a:r>
            <a:r>
              <a:rPr sz="1600" i="1">
                <a:solidFill>
                  <a:srgbClr val="0066CC"/>
                </a:solidFill>
                <a:latin typeface="Calibri" panose="020F0502020204030204"/>
              </a:rPr>
              <a:t>порядковое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в родительном падеже множественного числа.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 i="1">
                <a:solidFill>
                  <a:srgbClr val="0066CC"/>
                </a:solidFill>
                <a:latin typeface="Calibri" panose="020F0502020204030204"/>
              </a:rPr>
              <a:t>Склоняются обе части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.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 i="1">
                <a:solidFill>
                  <a:srgbClr val="0066CC"/>
                </a:solidFill>
                <a:latin typeface="Calibri" panose="020F0502020204030204"/>
              </a:rPr>
              <a:t>Пишутся раздельно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.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 marL="0" indent="0">
              <a:lnSpc>
                <a:spcPct val="130000"/>
              </a:lnSpc>
              <a:spcBef>
                <a:spcPts val="2000"/>
              </a:spcBef>
              <a:spcAft>
                <a:spcPts val="1200"/>
              </a:spcAft>
              <a:buNone/>
              <a:defRPr sz="1800">
                <a:solidFill>
                  <a:srgbClr val="333333"/>
                </a:solidFill>
                <a:latin typeface="Calibri" panose="020F0502020204030204"/>
              </a:defRPr>
            </a:pPr>
            <a:r>
              <a:rPr sz="1800" b="1" i="1">
                <a:solidFill>
                  <a:srgbClr val="333333"/>
                </a:solidFill>
                <a:latin typeface="Calibri" panose="020F0502020204030204"/>
              </a:rPr>
              <a:t>Примеры:</a:t>
            </a:r>
            <a:endParaRPr sz="1800" b="1" i="1">
              <a:solidFill>
                <a:srgbClr val="333333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четыре пятых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задачи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0066CC"/>
                </a:solidFill>
                <a:latin typeface="Calibri" panose="020F0502020204030204"/>
              </a:defRPr>
            </a:pPr>
            <a:r>
              <a:rPr sz="1600">
                <a:solidFill>
                  <a:srgbClr val="0066CC"/>
                </a:solidFill>
                <a:latin typeface="Calibri" panose="020F0502020204030204"/>
              </a:rPr>
              <a:t>• </a:t>
            </a:r>
            <a:r>
              <a:rPr sz="1600" b="1">
                <a:solidFill>
                  <a:srgbClr val="0066CC"/>
                </a:solidFill>
                <a:latin typeface="Calibri" panose="020F0502020204030204"/>
              </a:rPr>
              <a:t>одна восьмая</a:t>
            </a:r>
            <a:r>
              <a:rPr sz="1600">
                <a:solidFill>
                  <a:srgbClr val="0066CC"/>
                </a:solidFill>
                <a:latin typeface="Calibri" panose="020F0502020204030204"/>
              </a:rPr>
              <a:t> расстояния</a:t>
            </a:r>
            <a:endParaRPr sz="1600">
              <a:solidFill>
                <a:srgbClr val="0066CC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2594</Words>
  <Application>WPS Presentation</Application>
  <PresentationFormat>On-screen Show (4:3)</PresentationFormat>
  <Paragraphs>154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Georgia</vt:lpstr>
      <vt:lpstr>Calibri</vt:lpstr>
      <vt:lpstr>Microsoft YaHei</vt:lpstr>
      <vt:lpstr>Arial Unicode MS</vt:lpstr>
      <vt:lpstr>Calibri</vt:lpstr>
      <vt:lpstr>Office Theme</vt:lpstr>
      <vt:lpstr>Дробные имена числительные</vt:lpstr>
      <vt:lpstr>Что такое дробные числительные</vt:lpstr>
      <vt:lpstr>Структура дробных числительных</vt:lpstr>
      <vt:lpstr>Построение дробей: примеры</vt:lpstr>
      <vt:lpstr>Склонение дробных числительных</vt:lpstr>
      <vt:lpstr>Таблица склонения: пример</vt:lpstr>
      <vt:lpstr>Особенности числителя 'один'</vt:lpstr>
      <vt:lpstr>Отличие от существительных дробного значения</vt:lpstr>
      <vt:lpstr>Составные дробные числительные</vt:lpstr>
      <vt:lpstr>Полуторные числительные</vt:lpstr>
      <vt:lpstr>Правописание дробных числительных</vt:lpstr>
      <vt:lpstr>Типичные ошибки и их исправление</vt:lpstr>
      <vt:lpstr>Итоги и закрепление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Aki</cp:lastModifiedBy>
  <cp:revision>2</cp:revision>
  <dcterms:created xsi:type="dcterms:W3CDTF">2013-01-27T09:14:00Z</dcterms:created>
  <dcterms:modified xsi:type="dcterms:W3CDTF">2025-11-20T20:19:18Z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07ED9C081CA4495C926E4C3E838F77DB_12</vt:lpwstr>
  </property>
  <property fmtid="{D5CDD505-2E9C-101B-9397-08002B2CF9AE}" pid="3" name="KSOProductBuildVer">
    <vt:lpwstr>1049-12.2.0.23149</vt:lpwstr>
  </property>
</Properties>
</file>